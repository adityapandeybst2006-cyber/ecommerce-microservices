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image" Target="../media/image-9-2.png"/><Relationship Id="rId5" Type="http://schemas.openxmlformats.org/officeDocument/2006/relationships/image" Target="../media/image-9-1.png"/><Relationship Id="rId6" Type="http://schemas.openxmlformats.org/officeDocument/2006/relationships/image" Target="../media/image-9-2.png"/><Relationship Id="rId7" Type="http://schemas.openxmlformats.org/officeDocument/2006/relationships/image" Target="../media/image-9-1.png"/><Relationship Id="rId8" Type="http://schemas.openxmlformats.org/officeDocument/2006/relationships/image" Target="../media/image-9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63785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263785"/>
          </a:solidFill>
          <a:ln/>
        </p:spPr>
      </p:sp>
      <p:pic>
        <p:nvPicPr>
          <p:cNvPr id="5" name="Image 0" descr="/home/claude/icons/shoppingba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BAZAR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Microservices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Docker &amp; Kubernetes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3977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 shopping platform built with independent Node.js services,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with Docker and orchestrated with Kubernetes.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5806440"/>
            <a:ext cx="2011680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github.com/adityapandeybst2006-cyber/ecommerce-microservices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Shopping Bazar is, in one sentence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783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e-commerce web app split into small, independent services (auth, products, cart, orders, payments) instead of one large application — each service can be built, deployed, and scaled on its own.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44546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23060" y="3383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icons/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364" y="352958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2336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59943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&amp; JavaScript static website served by the API gateway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93008" y="306324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44546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4548" y="3383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cube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52" y="352958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42336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75888" y="459943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independent Node.js services, each with a single responsibility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54496" y="306324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44546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46036" y="3383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icons/dock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352958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1656" y="42336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37376" y="459943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packaged as a Docker image for consistent environments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15984" y="306324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44546A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907524" y="3383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home/claude/icons/kubernete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3828" y="3529584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53144" y="42336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198864" y="459943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&amp; scaled on Kubernetes with declarative YAML manifests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Microservices?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away from one giant application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16204F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0" y="187452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2C6E4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9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Monolith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9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for the entire 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9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bug can crash everything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9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app must be redeployed for one change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800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9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scale just the busy part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Bazar Approach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743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is its own small service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429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 failing doesn't take down the rest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4114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update services independently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4800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the service under load (e.g. product-service)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routes requests to 5 backend microservices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0" y="160020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16002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Client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0760" y="2286000"/>
            <a:ext cx="0" cy="41148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09160" y="2697480"/>
            <a:ext cx="274320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pic>
        <p:nvPicPr>
          <p:cNvPr id="8" name="Image 0" descr="/home/claude/icons/networ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86207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40680" y="2697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4000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80760" y="3474720"/>
            <a:ext cx="0" cy="32004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96796" y="3794760"/>
            <a:ext cx="8595360" cy="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96796" y="3794760"/>
            <a:ext cx="0" cy="54864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13816" y="434340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44546A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522476" y="4526280"/>
            <a:ext cx="548640" cy="54864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5" name="Image 1" descr="/home/claude/icons/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204" y="463600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9536" y="5166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auth-service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59536" y="54589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4001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945636" y="3794760"/>
            <a:ext cx="0" cy="54864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2962656" y="434340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44546A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71316" y="4526280"/>
            <a:ext cx="548640" cy="54864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21" name="Image 2" descr="/home/claude/icons/boxope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044" y="463600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008376" y="5166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product-service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008376" y="54589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4002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094476" y="3794760"/>
            <a:ext cx="0" cy="54864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5111496" y="434340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44546A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820156" y="4526280"/>
            <a:ext cx="548640" cy="54864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27" name="Image 3" descr="/home/claude/icons/c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463600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57216" y="5166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cart-service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157216" y="54589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4003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8243316" y="3794760"/>
            <a:ext cx="0" cy="54864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7260336" y="434340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44546A">
                <a:alpha val="1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968996" y="4526280"/>
            <a:ext cx="548640" cy="54864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33" name="Image 4" descr="/home/claude/icons/receip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8724" y="4636008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306056" y="5166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7306056" y="54589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4004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10392156" y="3794760"/>
            <a:ext cx="0" cy="54864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9409176" y="434340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44546A">
                <a:alpha val="1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10117836" y="4526280"/>
            <a:ext cx="548640" cy="54864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39" name="Image 5" descr="/home/claude/icons/creditcar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7564" y="4636008"/>
            <a:ext cx="329184" cy="32918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454896" y="5166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payment-service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9454896" y="54589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4005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powers each layer of the application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0253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1076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20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2240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Vanilla JavaScript (static site)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00253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124" y="21076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20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0" y="2240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microservices (auth, product, cart, order, payment)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28346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300837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networ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311353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2926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45920" y="32461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API Gateway — single entry point, request proxying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0" y="28346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300837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124" y="311353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2926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15200" y="32461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(dev) / MongoDB via optional Express backend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1520" y="384048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/>
        </p:spPr>
      </p:sp>
      <p:sp>
        <p:nvSpPr>
          <p:cNvPr id="25" name="Shape 19"/>
          <p:cNvSpPr/>
          <p:nvPr/>
        </p:nvSpPr>
        <p:spPr>
          <a:xfrm>
            <a:off x="914400" y="401421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s/docke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" y="411937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39319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45920" y="42519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 for local multi-service orchestration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400800" y="384048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/>
        </p:spPr>
      </p:sp>
      <p:sp>
        <p:nvSpPr>
          <p:cNvPr id="30" name="Shape 23"/>
          <p:cNvSpPr/>
          <p:nvPr/>
        </p:nvSpPr>
        <p:spPr>
          <a:xfrm>
            <a:off x="6583680" y="401421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icons/kubernete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7124" y="4119372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15200" y="39319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15200" y="42519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— Deployments &amp; Services for each component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Containerization with Docker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each service so it runs the same way everywhere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pic>
        <p:nvPicPr>
          <p:cNvPr id="5" name="Image 0" descr="/home/claude/icons/dock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65176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4114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Dockerfile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app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portable image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343400" y="1828800"/>
            <a:ext cx="7086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44546A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26280" y="2029968"/>
            <a:ext cx="512064" cy="512064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9" name="Text 6"/>
          <p:cNvSpPr/>
          <p:nvPr/>
        </p:nvSpPr>
        <p:spPr>
          <a:xfrm>
            <a:off x="4526280" y="2029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257800" y="1938528"/>
            <a:ext cx="5989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257800" y="2267712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node:18-alpine — small &amp; fast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2816352"/>
            <a:ext cx="7086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44546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6280" y="3017520"/>
            <a:ext cx="512064" cy="512064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4" name="Text 11"/>
          <p:cNvSpPr/>
          <p:nvPr/>
        </p:nvSpPr>
        <p:spPr>
          <a:xfrm>
            <a:off x="4526280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257800" y="2926080"/>
            <a:ext cx="5989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257800" y="3255264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package*.json → npm install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3803904"/>
            <a:ext cx="7086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44546A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26280" y="4005072"/>
            <a:ext cx="512064" cy="512064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9" name="Text 16"/>
          <p:cNvSpPr/>
          <p:nvPr/>
        </p:nvSpPr>
        <p:spPr>
          <a:xfrm>
            <a:off x="4526280" y="4005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257800" y="3913632"/>
            <a:ext cx="5989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source &amp; expose port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257800" y="4242816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 . then EXPOSE 4000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43400" y="4791456"/>
            <a:ext cx="7086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44546A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26280" y="4992624"/>
            <a:ext cx="512064" cy="512064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4" name="Text 21"/>
          <p:cNvSpPr/>
          <p:nvPr/>
        </p:nvSpPr>
        <p:spPr>
          <a:xfrm>
            <a:off x="4526280" y="49926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257800" y="4901184"/>
            <a:ext cx="5989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for local dev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257800" y="5230368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Spins up gateway + all 5 microservices together with one command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with Kubernetes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Running, scaling &amp; healing containers automatically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514600" cy="3017520"/>
          </a:xfrm>
          <a:prstGeom prst="roundRect">
            <a:avLst>
              <a:gd name="adj" fmla="val 3273"/>
            </a:avLst>
          </a:prstGeom>
          <a:solidFill>
            <a:srgbClr val="16204F"/>
          </a:solidFill>
          <a:ln/>
        </p:spPr>
      </p:sp>
      <p:sp>
        <p:nvSpPr>
          <p:cNvPr id="5" name="Shape 3"/>
          <p:cNvSpPr/>
          <p:nvPr/>
        </p:nvSpPr>
        <p:spPr>
          <a:xfrm>
            <a:off x="1641348" y="2240280"/>
            <a:ext cx="694944" cy="694944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6" name="Image 0" descr="/home/claude/icons/cube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652" y="2386584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502152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specs describing how many replicas of each service to run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93008" y="1965960"/>
            <a:ext cx="2514600" cy="3017520"/>
          </a:xfrm>
          <a:prstGeom prst="roundRect">
            <a:avLst>
              <a:gd name="adj" fmla="val 3273"/>
            </a:avLst>
          </a:prstGeom>
          <a:solidFill>
            <a:srgbClr val="16204F"/>
          </a:solidFill>
          <a:ln/>
        </p:spPr>
      </p:sp>
      <p:sp>
        <p:nvSpPr>
          <p:cNvPr id="10" name="Shape 7"/>
          <p:cNvSpPr/>
          <p:nvPr/>
        </p:nvSpPr>
        <p:spPr>
          <a:xfrm>
            <a:off x="4402836" y="2240280"/>
            <a:ext cx="694944" cy="694944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1" name="Image 1" descr="/home/claude/icons/networ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40" y="2386584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0168" y="3063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75888" y="3502152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internal networking — pods can find each other by service name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54496" y="1965960"/>
            <a:ext cx="2514600" cy="3017520"/>
          </a:xfrm>
          <a:prstGeom prst="roundRect">
            <a:avLst>
              <a:gd name="adj" fmla="val 3273"/>
            </a:avLst>
          </a:prstGeom>
          <a:solidFill>
            <a:srgbClr val="16204F"/>
          </a:solidFill>
          <a:ln/>
        </p:spPr>
      </p:sp>
      <p:sp>
        <p:nvSpPr>
          <p:cNvPr id="15" name="Shape 11"/>
          <p:cNvSpPr/>
          <p:nvPr/>
        </p:nvSpPr>
        <p:spPr>
          <a:xfrm>
            <a:off x="7164324" y="2240280"/>
            <a:ext cx="694944" cy="694944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6" name="Image 2" descr="/home/claude/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628" y="2386584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1656" y="3063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Deployment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37376" y="3502152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runs as its own pod with a dedicated Service for connectivity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15984" y="1965960"/>
            <a:ext cx="2514600" cy="3017520"/>
          </a:xfrm>
          <a:prstGeom prst="roundRect">
            <a:avLst>
              <a:gd name="adj" fmla="val 3273"/>
            </a:avLst>
          </a:prstGeom>
          <a:solidFill>
            <a:srgbClr val="16204F"/>
          </a:solidFill>
          <a:ln/>
        </p:spPr>
      </p:sp>
      <p:sp>
        <p:nvSpPr>
          <p:cNvPr id="20" name="Shape 15"/>
          <p:cNvSpPr/>
          <p:nvPr/>
        </p:nvSpPr>
        <p:spPr>
          <a:xfrm>
            <a:off x="9925812" y="2240280"/>
            <a:ext cx="694944" cy="694944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21" name="Image 3" descr="/home/claude/icons/rock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2116" y="2386584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53144" y="3063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98864" y="3502152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gateway to the outside world through a single external IP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31520" y="525780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2C6E49"/>
          </a:solidFill>
          <a:ln/>
        </p:spPr>
      </p:sp>
      <p:sp>
        <p:nvSpPr>
          <p:cNvPr id="25" name="Text 19"/>
          <p:cNvSpPr/>
          <p:nvPr/>
        </p:nvSpPr>
        <p:spPr>
          <a:xfrm>
            <a:off x="1005840" y="52578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kubernetes/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deploys MongoDB + all microservices in one command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local code to a running cluster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1737360" cy="1737360"/>
          </a:xfrm>
          <a:prstGeom prst="roundRect">
            <a:avLst>
              <a:gd name="adj" fmla="val 473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44546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606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7432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29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68880" y="3246120"/>
            <a:ext cx="502920" cy="0"/>
          </a:xfrm>
          <a:prstGeom prst="line">
            <a:avLst/>
          </a:prstGeom>
          <a:noFill/>
          <a:ln w="25400">
            <a:solidFill>
              <a:srgbClr val="AEB8CC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971800" y="2377440"/>
            <a:ext cx="1737360" cy="1737360"/>
          </a:xfrm>
          <a:prstGeom prst="roundRect">
            <a:avLst>
              <a:gd name="adj" fmla="val 473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44546A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2606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dock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7432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17520" y="3429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09160" y="3246120"/>
            <a:ext cx="502920" cy="0"/>
          </a:xfrm>
          <a:prstGeom prst="line">
            <a:avLst/>
          </a:prstGeom>
          <a:noFill/>
          <a:ln w="25400">
            <a:solidFill>
              <a:srgbClr val="AEB8CC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212080" y="2377440"/>
            <a:ext cx="1737360" cy="1737360"/>
          </a:xfrm>
          <a:prstGeom prst="roundRect">
            <a:avLst>
              <a:gd name="adj" fmla="val 473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44546A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60720" y="2606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clou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7432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3429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Registry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949440" y="3246120"/>
            <a:ext cx="502920" cy="0"/>
          </a:xfrm>
          <a:prstGeom prst="line">
            <a:avLst/>
          </a:prstGeom>
          <a:noFill/>
          <a:ln w="25400">
            <a:solidFill>
              <a:srgbClr val="AEB8CC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452360" y="2377440"/>
            <a:ext cx="1737360" cy="1737360"/>
          </a:xfrm>
          <a:prstGeom prst="roundRect">
            <a:avLst>
              <a:gd name="adj" fmla="val 473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44546A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01000" y="2606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kubernete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7432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429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189720" y="3246120"/>
            <a:ext cx="502920" cy="0"/>
          </a:xfrm>
          <a:prstGeom prst="line">
            <a:avLst/>
          </a:prstGeom>
          <a:noFill/>
          <a:ln w="25400">
            <a:solidFill>
              <a:srgbClr val="AEB8CC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9692640" y="2377440"/>
            <a:ext cx="1737360" cy="1737360"/>
          </a:xfrm>
          <a:prstGeom prst="roundRect">
            <a:avLst>
              <a:gd name="adj" fmla="val 4737"/>
            </a:avLst>
          </a:prstGeom>
          <a:solidFill>
            <a:srgbClr val="2C6E49"/>
          </a:solidFill>
          <a:ln/>
          <a:effectLst>
            <a:outerShdw sx="100000" sy="100000" kx="0" ky="0" algn="bl" rotWithShape="0" blurRad="63500" dist="25400" dir="5400000">
              <a:srgbClr val="44546A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4128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icons/check_2C6E4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274320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38360" y="3429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Cluster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31520" y="470916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/>
        </p:spPr>
      </p:sp>
      <p:sp>
        <p:nvSpPr>
          <p:cNvPr id="29" name="Text 22"/>
          <p:cNvSpPr/>
          <p:nvPr/>
        </p:nvSpPr>
        <p:spPr>
          <a:xfrm>
            <a:off x="1005840" y="489204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2761"/>
                </a:solidFill>
              </a:rPr>
              <a:t>Alternative simple deploy (used for demo):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270"/>
                </a:solidFill>
              </a:rPr>
              <a:t>Render.com — Build Command: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"No build required"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270"/>
                </a:solidFill>
              </a:rPr>
              <a:t>  |  Start Command: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start-services.js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issues faced while building and deploying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98548"/>
            <a:ext cx="512064" cy="512064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6" name="Image 0" descr="/home/claude/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2265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93392"/>
            <a:ext cx="42062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localhost API URLs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26480" y="2098548"/>
            <a:ext cx="512064" cy="512064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9" name="Image 1" descr="/home/claude/icons/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22656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993392"/>
            <a:ext cx="43434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frontend to window.location.origin so it works in any environment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2944368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</p:sp>
      <p:sp>
        <p:nvSpPr>
          <p:cNvPr id="12" name="Shape 8"/>
          <p:cNvSpPr/>
          <p:nvPr/>
        </p:nvSpPr>
        <p:spPr>
          <a:xfrm>
            <a:off x="960120" y="3168396"/>
            <a:ext cx="512064" cy="512064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3" name="Image 2" descr="/home/claude/icons/warn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329641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063240"/>
            <a:ext cx="42062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tried to build from a Dockerfile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26480" y="3168396"/>
            <a:ext cx="512064" cy="512064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6" name="Image 3" descr="/home/claude/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296412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58000" y="3063240"/>
            <a:ext cx="43434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selected Node runtime with a plain build/start command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31520" y="4014216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</p:sp>
      <p:sp>
        <p:nvSpPr>
          <p:cNvPr id="19" name="Shape 13"/>
          <p:cNvSpPr/>
          <p:nvPr/>
        </p:nvSpPr>
        <p:spPr>
          <a:xfrm>
            <a:off x="960120" y="4238244"/>
            <a:ext cx="512064" cy="512064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0" name="Image 4" descr="/home/claude/icons/warning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436626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91640" y="4133088"/>
            <a:ext cx="42062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root package.json for npm start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126480" y="4238244"/>
            <a:ext cx="512064" cy="512064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23" name="Image 5" descr="/home/claude/icons/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4366260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858000" y="4133088"/>
            <a:ext cx="43434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node start-services.js as the direct run command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731520" y="5084064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</p:sp>
      <p:sp>
        <p:nvSpPr>
          <p:cNvPr id="26" name="Shape 18"/>
          <p:cNvSpPr/>
          <p:nvPr/>
        </p:nvSpPr>
        <p:spPr>
          <a:xfrm>
            <a:off x="960120" y="5308092"/>
            <a:ext cx="512064" cy="512064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7" name="Image 6" descr="/home/claude/icons/warning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136" y="5436108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691640" y="5202936"/>
            <a:ext cx="42062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errors across services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6126480" y="5308092"/>
            <a:ext cx="512064" cy="512064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30" name="Image 7" descr="/home/claude/icons/check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5436108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858000" y="5202936"/>
            <a:ext cx="43434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everything through a single API Gateway on one origin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6378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can go next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6" name="Image 0" descr="/home/claude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2128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57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MongoDB Atlas integration for real data storage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9" name="Image 1" descr="/home/claude/icons/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8986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743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and role-based access control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2" name="Image 2" descr="/home/claude/icons/networ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5844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controller for a single custom domain across services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5" name="Image 3" descr="/home/claude/icons/rock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27024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114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(GitHub Actions) for automated build &amp; deploy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731520" y="484632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8" name="Image 4" descr="/home/claude/icons/cog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95604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800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Pod Autoscaling based on real traffic load</a:t>
            </a:r>
            <a:endParaRPr lang="en-US" sz="1450" dirty="0"/>
          </a:p>
        </p:txBody>
      </p:sp>
      <p:sp>
        <p:nvSpPr>
          <p:cNvPr id="20" name="Shape 13"/>
          <p:cNvSpPr/>
          <p:nvPr/>
        </p:nvSpPr>
        <p:spPr>
          <a:xfrm>
            <a:off x="731520" y="5989320"/>
            <a:ext cx="2011680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31520" y="6126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2026-07-15T11:44:17Z</dcterms:created>
  <dcterms:modified xsi:type="dcterms:W3CDTF">2026-07-15T11:44:17Z</dcterms:modified>
</cp:coreProperties>
</file>